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A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f97113ba4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97113ba4d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f97113ba4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f97113ba4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f97113ba4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f97113ba4d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f97113ba4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f97113ba4d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f97113ba4d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f97113ba4d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f97113ba4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f97113ba4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f97113ba4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/>
          <p:cNvSpPr txBox="1"/>
          <p:nvPr/>
        </p:nvSpPr>
        <p:spPr>
          <a:xfrm>
            <a:off x="259951" y="3159253"/>
            <a:ext cx="8375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003878"/>
                </a:solidFill>
                <a:latin typeface="Calibri"/>
              </a:rPr>
              <a:t>Team Details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9951" y="3616453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5A6570"/>
                </a:solidFill>
                <a:latin typeface="Calibri"/>
              </a:rPr>
              <a:t>Team name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07008" y="3616453"/>
            <a:ext cx="67299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1F2A37"/>
                </a:solidFill>
                <a:latin typeface="Calibri"/>
              </a:rPr>
              <a:t>MYTHOS</a:t>
            </a:r>
            <a:endParaRPr sz="1300" b="0" i="0" dirty="0">
              <a:solidFill>
                <a:srgbClr val="1F2A37"/>
              </a:solidFill>
              <a:latin typeface="Calibr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59951" y="3927349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5A6570"/>
                </a:solidFill>
                <a:latin typeface="Calibri"/>
              </a:rPr>
              <a:t>Team leader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07008" y="3909061"/>
            <a:ext cx="67299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1F2A37"/>
                </a:solidFill>
                <a:latin typeface="Calibri"/>
              </a:rPr>
              <a:t>Vishal Karun</a:t>
            </a:r>
            <a:endParaRPr sz="1300" b="0" i="0" dirty="0">
              <a:solidFill>
                <a:srgbClr val="1F2A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TextBox 112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Product data you can sign off 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4048" y="1078992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570"/>
                </a:solidFill>
                <a:latin typeface="Calibri"/>
              </a:rPr>
              <a:t>Six input columns to a 252-column delivery sheet — with a reason behind every empty cell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84048" y="1481328"/>
            <a:ext cx="8375904" cy="566928"/>
          </a:xfrm>
          <a:prstGeom prst="roundRect">
            <a:avLst>
              <a:gd name="adj" fmla="val 4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Everyone can generate product data. </a:t>
            </a:r>
            <a:r>
              <a:rPr sz="1500" b="1" i="0">
                <a:solidFill>
                  <a:srgbClr val="20A2FE"/>
                </a:solidFill>
                <a:latin typeface="Calibri"/>
              </a:rPr>
              <a:t>Nobody can prove it is right.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4048" y="2194560"/>
            <a:ext cx="2682240" cy="14813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12064" y="2322576"/>
            <a:ext cx="24262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3878"/>
                </a:solidFill>
                <a:latin typeface="Calibri"/>
              </a:rPr>
              <a:t>THE PROBLEM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2064" y="2596896"/>
            <a:ext cx="2426208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Frontier models already hit ~91% F1. Vendors attach a confidence score — the model's opinion of its own work, highest exactly where it is most certainly wrong.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230880" y="2194560"/>
            <a:ext cx="2682240" cy="14813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358896" y="2322576"/>
            <a:ext cx="24262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3261E"/>
                </a:solidFill>
                <a:latin typeface="Calibri"/>
              </a:rPr>
              <a:t>WHY THAT FAILS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58896" y="2596896"/>
            <a:ext cx="2426208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A tool right nine times in ten, with no way to tell which nine, has not removed the review. It has moved it. Distributors still check 100% of records.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077712" y="2194560"/>
            <a:ext cx="2682240" cy="14813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205728" y="2322576"/>
            <a:ext cx="24262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4B"/>
                </a:solidFill>
                <a:latin typeface="Calibri"/>
              </a:rPr>
              <a:t>OUR MOVE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05728" y="2596896"/>
            <a:ext cx="2426208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Treat the model as an untrusted proposer. Six independent external checks judge every value; only what survives is published. The rest becomes a queue with reasons.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4048" y="3840480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61 / 252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4048" y="4224528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columns populated from 6 inputs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478024" y="3840480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1.14 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78024" y="4224528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per product, warm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72000" y="3840480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759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0" y="4224528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tests passing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665976" y="3840480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100%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665976" y="4224528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offline — no API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TextBox 118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How it enriches, proves and scales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84048" y="1188720"/>
            <a:ext cx="8375904" cy="1115568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530352" y="133502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0976" y="1325880"/>
            <a:ext cx="764438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3878"/>
                </a:solidFill>
                <a:latin typeface="Calibri"/>
              </a:rPr>
              <a:t>Enriching minimal input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0976" y="1609344"/>
            <a:ext cx="7626096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Six columns in. </a:t>
            </a:r>
            <a:r>
              <a:rPr sz="950" b="1" i="0">
                <a:solidFill>
                  <a:srgbClr val="1F2A37"/>
                </a:solidFill>
                <a:latin typeface="Calibri"/>
              </a:rPr>
              <a:t>699 of 1,000 descriptions carry their own part number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 — a second channel the identity check reads.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Route to a three-level taxonomy, retrieve that category's schema and vocabulary, then extract against it: retrieval over master data, not free generation.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84048" y="2414015"/>
            <a:ext cx="8375904" cy="111556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530352" y="256032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50976" y="2551175"/>
            <a:ext cx="764438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3878"/>
                </a:solidFill>
                <a:latin typeface="Calibri"/>
              </a:rPr>
              <a:t>Accuracy and trust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50976" y="2834639"/>
            <a:ext cx="7626096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Six external verifiers per value: unit algebra, constraints, vocabulary, identity, coherence, ensemble disagreement.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Descriptions are </a:t>
            </a:r>
            <a:r>
              <a:rPr sz="950" b="1" i="0">
                <a:solidFill>
                  <a:srgbClr val="1F2A37"/>
                </a:solidFill>
                <a:latin typeface="Calibri"/>
              </a:rPr>
              <a:t>deterministic templates over verified values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 — a description cannot contain an unverified fact. A test asserts it.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84048" y="3639311"/>
            <a:ext cx="8375904" cy="1115568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530352" y="3785615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0976" y="3776472"/>
            <a:ext cx="764438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3878"/>
                </a:solidFill>
                <a:latin typeface="Calibri"/>
              </a:rPr>
              <a:t>Scaling to enterprise catalogs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50976" y="4059935"/>
            <a:ext cx="7626096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1.14 s/product ≈ 19 minutes per 1,000, offline on one 8 GB laptop GPU. No per-record API cost at catalog scale.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Concurrency is implemented and deterministic; the measured ceiling is 1.09× and the cause is VRAM, not the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TextBox 124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What makes it different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4048" y="1078992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570"/>
                </a:solidFill>
                <a:latin typeface="Calibri"/>
              </a:rPr>
              <a:t>The category is crowded with generation. It is empty on proof.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84048" y="1463040"/>
            <a:ext cx="4522988" cy="1874519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30352" y="1591056"/>
            <a:ext cx="42303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  <a:latin typeface="Calibri"/>
              </a:rPr>
              <a:t>EVERY OTHER APPROACH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0352" y="1883664"/>
            <a:ext cx="42303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×  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Generates values, attaches a self-reported confidence score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×  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A score is the model's own opinion — miscalibrated exactly where it matters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×  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Reviewer still has to check everything, so the cost never leaves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×  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Cloud API per record; unreleased pricing leaves the building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089916" y="1463040"/>
            <a:ext cx="3670035" cy="1874519"/>
          </a:xfrm>
          <a:prstGeom prst="roundRect">
            <a:avLst>
              <a:gd name="adj" fmla="val 4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236220" y="1591056"/>
            <a:ext cx="33774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CRUCIBLE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236220" y="1883664"/>
            <a:ext cx="33774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0A2FE"/>
                </a:solidFill>
                <a:latin typeface="Calibri"/>
              </a:rPr>
              <a:t>✓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External tools judge the model, not the model itself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0A2FE"/>
                </a:solidFill>
                <a:latin typeface="Calibri"/>
              </a:rPr>
              <a:t>✓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Every empty cell carries a stated reason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0A2FE"/>
                </a:solidFill>
                <a:latin typeface="Calibri"/>
              </a:rPr>
              <a:t>✓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Review queue is only what failed — with the failure named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0A2FE"/>
                </a:solidFill>
                <a:latin typeface="Calibri"/>
              </a:rPr>
              <a:t>✓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Runs entirely on the operator's own machine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84048" y="3493008"/>
            <a:ext cx="8375904" cy="841248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12700">
            <a:solidFill>
              <a:srgbClr val="20A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THE USP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3878"/>
                </a:solidFill>
                <a:latin typeface="Calibri"/>
              </a:rPr>
              <a:t>A model cannot correct an error it is certain about.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Something outside the model has to — and it has to say so in words a merchandiser can act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TextBox 130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What the solution does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84048" y="1188720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02920" y="1298448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Taxonomy routing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2920" y="1554480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Three-level Dept / Class / Fine with Classpath, over per-category attribute schemas.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230880" y="1188720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349752" y="1298448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Grounded extraction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49752" y="1554480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Local VLM, grammar-constrained JSON. Every value carries a source quote.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077712" y="1188720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196584" y="1298448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Normalisation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96584" y="1554480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Trade abbreviations expanded, units to one form, house spacing rule applied.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84048" y="2249424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02920" y="2359152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Six verifiers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2920" y="2615184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Unit algebra, constraints, vocabulary, identity, coherence, ensemble.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230880" y="2249424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3349752" y="2359152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Certification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49752" y="2615184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Conformal risk control turns evidence into a certified error rate.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077712" y="2249424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196584" y="2359152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Review queue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96584" y="2615184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Only what failed, each with the verifier's reason attached.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84048" y="3310128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02920" y="3419856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Five descriptions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2920" y="3675888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Invoice, short, long, retail, mobile — at required lengths and casing.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230880" y="3310128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349752" y="3419856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Evidence sidecar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349752" y="3675888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Every populated cell: source quote, provenance, six verdicts.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77712" y="3310128"/>
            <a:ext cx="2682240" cy="93268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196584" y="3419856"/>
            <a:ext cx="24444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Delivery sheet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96584" y="3675888"/>
            <a:ext cx="24444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0"/>
                </a:solidFill>
                <a:latin typeface="Calibri"/>
              </a:rPr>
              <a:t>252-column CSV/XLSX in the client's own format, downloadable.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TextBox 136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How a value becomes publishable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4048" y="1078992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570"/>
                </a:solidFill>
                <a:latin typeface="Calibri"/>
              </a:rPr>
              <a:t>One product, end to end — the decision point is the last step, not the first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84048" y="1554480"/>
            <a:ext cx="1289304" cy="713232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38912" y="1682496"/>
            <a:ext cx="1179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Ingest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38912" y="1938528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6 columns</a:t>
            </a:r>
          </a:p>
        </p:txBody>
      </p:sp>
      <p:sp>
        <p:nvSpPr>
          <p:cNvPr id="142" name="Isosceles Triangle 141"/>
          <p:cNvSpPr/>
          <p:nvPr/>
        </p:nvSpPr>
        <p:spPr>
          <a:xfrm rot="5400000">
            <a:off x="1691640" y="1847088"/>
            <a:ext cx="91440" cy="128016"/>
          </a:xfrm>
          <a:prstGeom prst="triangle">
            <a:avLst/>
          </a:prstGeom>
          <a:solidFill>
            <a:srgbClr val="20A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1801368" y="1554480"/>
            <a:ext cx="1289304" cy="713232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856232" y="1682496"/>
            <a:ext cx="1179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Route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56232" y="1938528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taxonomy</a:t>
            </a:r>
          </a:p>
        </p:txBody>
      </p:sp>
      <p:sp>
        <p:nvSpPr>
          <p:cNvPr id="146" name="Isosceles Triangle 145"/>
          <p:cNvSpPr/>
          <p:nvPr/>
        </p:nvSpPr>
        <p:spPr>
          <a:xfrm rot="5400000">
            <a:off x="3108960" y="1847088"/>
            <a:ext cx="91440" cy="128016"/>
          </a:xfrm>
          <a:prstGeom prst="triangle">
            <a:avLst/>
          </a:prstGeom>
          <a:solidFill>
            <a:srgbClr val="20A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3218688" y="1554480"/>
            <a:ext cx="1289304" cy="713232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273552" y="1682496"/>
            <a:ext cx="1179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Extract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73552" y="1938528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local VLM</a:t>
            </a:r>
          </a:p>
        </p:txBody>
      </p:sp>
      <p:sp>
        <p:nvSpPr>
          <p:cNvPr id="150" name="Isosceles Triangle 149"/>
          <p:cNvSpPr/>
          <p:nvPr/>
        </p:nvSpPr>
        <p:spPr>
          <a:xfrm rot="5400000">
            <a:off x="4526280" y="1847088"/>
            <a:ext cx="91440" cy="128016"/>
          </a:xfrm>
          <a:prstGeom prst="triangle">
            <a:avLst/>
          </a:prstGeom>
          <a:solidFill>
            <a:srgbClr val="20A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4636008" y="1554480"/>
            <a:ext cx="1289304" cy="713232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690872" y="1682496"/>
            <a:ext cx="1179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878"/>
                </a:solidFill>
                <a:latin typeface="Calibri"/>
              </a:rPr>
              <a:t>Normalise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690872" y="1938528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units, terms</a:t>
            </a:r>
          </a:p>
        </p:txBody>
      </p:sp>
      <p:sp>
        <p:nvSpPr>
          <p:cNvPr id="154" name="Isosceles Triangle 153"/>
          <p:cNvSpPr/>
          <p:nvPr/>
        </p:nvSpPr>
        <p:spPr>
          <a:xfrm rot="5400000">
            <a:off x="5943600" y="1847088"/>
            <a:ext cx="91440" cy="128016"/>
          </a:xfrm>
          <a:prstGeom prst="triangle">
            <a:avLst/>
          </a:prstGeom>
          <a:solidFill>
            <a:srgbClr val="20A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6053328" y="1554480"/>
            <a:ext cx="1289304" cy="713232"/>
          </a:xfrm>
          <a:prstGeom prst="roundRect">
            <a:avLst>
              <a:gd name="adj" fmla="val 4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108192" y="1682496"/>
            <a:ext cx="1179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108192" y="1938528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0A2FE"/>
                </a:solidFill>
                <a:latin typeface="Calibri"/>
              </a:rPr>
              <a:t>6 checks</a:t>
            </a:r>
          </a:p>
        </p:txBody>
      </p:sp>
      <p:sp>
        <p:nvSpPr>
          <p:cNvPr id="158" name="Isosceles Triangle 157"/>
          <p:cNvSpPr/>
          <p:nvPr/>
        </p:nvSpPr>
        <p:spPr>
          <a:xfrm rot="5400000">
            <a:off x="7360920" y="1847088"/>
            <a:ext cx="91440" cy="128016"/>
          </a:xfrm>
          <a:prstGeom prst="triangle">
            <a:avLst/>
          </a:prstGeom>
          <a:solidFill>
            <a:srgbClr val="20A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7470648" y="1554480"/>
            <a:ext cx="1289304" cy="713232"/>
          </a:xfrm>
          <a:prstGeom prst="roundRect">
            <a:avLst>
              <a:gd name="adj" fmla="val 4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525512" y="1682496"/>
            <a:ext cx="1179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Certify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525512" y="1938528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0A2FE"/>
                </a:solidFill>
                <a:latin typeface="Calibri"/>
              </a:rPr>
              <a:t>conformal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84048" y="2450592"/>
            <a:ext cx="2682240" cy="10058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502920" y="2569464"/>
            <a:ext cx="1078992" cy="237744"/>
          </a:xfrm>
          <a:prstGeom prst="roundRect">
            <a:avLst>
              <a:gd name="adj" fmla="val 25000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PUBLISHED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02920" y="2889504"/>
            <a:ext cx="24444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Survived every applicable check. Written to the delivery sheet with its evidence.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230880" y="2450592"/>
            <a:ext cx="2682240" cy="10058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3349752" y="2569464"/>
            <a:ext cx="1078992" cy="237744"/>
          </a:xfrm>
          <a:prstGeom prst="roundRect">
            <a:avLst>
              <a:gd name="adj" fmla="val 25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REVIEW QUEUE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49752" y="2889504"/>
            <a:ext cx="24444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A check objected. Routed to a person with the objection in plain words.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077712" y="2450592"/>
            <a:ext cx="2682240" cy="10058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6196584" y="2569464"/>
            <a:ext cx="1078992" cy="237744"/>
          </a:xfrm>
          <a:prstGeom prst="roundRect">
            <a:avLst>
              <a:gd name="adj" fmla="val 25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LEFT EMPTY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96584" y="2889504"/>
            <a:ext cx="24444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Cannot be derived from the input. The reason is recorded, not the guess.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4048" y="3584448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878"/>
                </a:solidFill>
                <a:latin typeface="Calibri"/>
              </a:rPr>
              <a:t>The three outcomes are the product. </a:t>
            </a:r>
            <a:r>
              <a:rPr sz="1050" b="0" i="0">
                <a:solidFill>
                  <a:srgbClr val="1F2A37"/>
                </a:solidFill>
                <a:latin typeface="Calibri"/>
              </a:rPr>
              <a:t>A system that only ever produces the first one is the system distributors already refuse to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TextBox 142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The review queue, live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4048" y="1078992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570"/>
                </a:solidFill>
                <a:latin typeface="Calibri"/>
              </a:rPr>
              <a:t>A ball bearing. The model proposed seal_type = C4 and was certain about it.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4048" y="149961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6570"/>
                </a:solidFill>
                <a:latin typeface="Calibri"/>
              </a:rPr>
              <a:t>CHECK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801368" y="1499616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6570"/>
                </a:solidFill>
                <a:latin typeface="Calibri"/>
              </a:rPr>
              <a:t>VERDICT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61488" y="1499616"/>
            <a:ext cx="5907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6570"/>
                </a:solidFill>
                <a:latin typeface="Calibri"/>
              </a:rPr>
              <a:t>REASON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4048" y="1792224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ensemble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801368" y="179222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7F4B"/>
                </a:solidFill>
                <a:latin typeface="Calibri"/>
              </a:rPr>
              <a:t>1.00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61488" y="1792224"/>
            <a:ext cx="59070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identical across 3 independent samples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4048" y="2103120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coherence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801368" y="2103120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7F4B"/>
                </a:solidFill>
                <a:latin typeface="Calibri"/>
              </a:rPr>
              <a:t>1.00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761488" y="2103120"/>
            <a:ext cx="59070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'C4' appears in 10% of this category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84048" y="2414016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dimensional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801368" y="2414016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1">
                <a:solidFill>
                  <a:srgbClr val="5A6570"/>
                </a:solidFill>
                <a:latin typeface="Calibri"/>
              </a:rPr>
              <a:t>abstained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61488" y="2414016"/>
            <a:ext cx="59070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nominal attribute — nothing to check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84048" y="2724912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constraint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01368" y="272491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1">
                <a:solidFill>
                  <a:srgbClr val="5A6570"/>
                </a:solidFill>
                <a:latin typeface="Calibri"/>
              </a:rPr>
              <a:t>abstained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761488" y="2724912"/>
            <a:ext cx="59070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no constraint mentions seal_type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84048" y="3035808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identity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801368" y="3035808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1">
                <a:solidFill>
                  <a:srgbClr val="5A6570"/>
                </a:solidFill>
                <a:latin typeface="Calibri"/>
              </a:rPr>
              <a:t>abstained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761488" y="3035808"/>
            <a:ext cx="59070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not an identity claim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9184" y="3282696"/>
            <a:ext cx="8485632" cy="310896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84048" y="3346703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878"/>
                </a:solidFill>
                <a:latin typeface="Calibri"/>
              </a:rPr>
              <a:t>vocabulary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01368" y="3346703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0.00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761488" y="3346703"/>
            <a:ext cx="59070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Calibri"/>
              </a:rPr>
              <a:t>'C4' is not a term seal_type accepts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384048" y="3730751"/>
            <a:ext cx="8375904" cy="859536"/>
          </a:xfrm>
          <a:prstGeom prst="roundRect">
            <a:avLst>
              <a:gd name="adj" fmla="val 4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0A2FE"/>
                </a:solidFill>
                <a:latin typeface="Calibri"/>
              </a:rPr>
              <a:t>C4 is a bearing clearance code, not a seal type.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The model agreed with itself three times out of three. The statistical profile said it looked normal. Both were confidently wrong.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FFFFFF"/>
                </a:solidFill>
                <a:latin typeface="Calibri"/>
              </a:rPr>
              <a:t>Only the check that knows what the category actually sells caught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TextBox 148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Architecture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84048" y="1188720"/>
            <a:ext cx="1587398" cy="178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475488" y="1307592"/>
            <a:ext cx="14045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  <a:latin typeface="Calibri"/>
              </a:rPr>
              <a:t>INPUT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5488" y="1609344"/>
            <a:ext cx="1404518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Distributor CSV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6 columns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median 35 chars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081174" y="1188720"/>
            <a:ext cx="1587398" cy="178308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172614" y="1307592"/>
            <a:ext cx="14045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3878"/>
                </a:solidFill>
                <a:latin typeface="Calibri"/>
              </a:rPr>
              <a:t>PROPOSE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72614" y="1609344"/>
            <a:ext cx="1404518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Taxonomy router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qwen3-vl:8b local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grammar-constrained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normaliser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778300" y="1188720"/>
            <a:ext cx="1587398" cy="178308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869740" y="1307592"/>
            <a:ext cx="14045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3878"/>
                </a:solidFill>
                <a:latin typeface="Calibri"/>
              </a:rPr>
              <a:t>VERIFY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869740" y="1609344"/>
            <a:ext cx="1404518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dimensional  ·  constraint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vocabulary  ·  identity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coherence  ·  ensemble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each may abstain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475427" y="1188720"/>
            <a:ext cx="1587398" cy="1783080"/>
          </a:xfrm>
          <a:prstGeom prst="roundRect">
            <a:avLst>
              <a:gd name="adj" fmla="val 4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566867" y="1307592"/>
            <a:ext cx="14045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CERTIFY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566867" y="1609344"/>
            <a:ext cx="1404518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learned fusion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conformal bound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publish / review / empty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172553" y="1188720"/>
            <a:ext cx="1587398" cy="178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263993" y="1307592"/>
            <a:ext cx="14045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  <a:latin typeface="Calibri"/>
              </a:rPr>
              <a:t>DELIVER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63993" y="1609344"/>
            <a:ext cx="1404518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252-column sheet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evidence sidecar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review queue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84048" y="3154680"/>
            <a:ext cx="83759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003878"/>
                </a:solidFill>
                <a:latin typeface="Calibri"/>
              </a:rPr>
              <a:t>Abstention is a distinct signal.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"Nothing to check" and "checked and satisfied" are different facts; merging them auto-publishes exactly the values nothing examined.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003878"/>
                </a:solidFill>
                <a:latin typeface="Calibri"/>
              </a:rPr>
              <a:t>No path from source text to output prose bypasses a verified value.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 The five descriptions are deterministic templates, so a composed description cannot contain an unverified fact.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TextBox 154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Technologies used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84048" y="1188720"/>
            <a:ext cx="2025395" cy="16459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493776" y="1298448"/>
            <a:ext cx="1805939" cy="256032"/>
          </a:xfrm>
          <a:prstGeom prst="roundRect">
            <a:avLst>
              <a:gd name="adj" fmla="val 25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MODEL &amp; INFERENCE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93776" y="1645920"/>
            <a:ext cx="18059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qwen3-vl:8b (vision-language)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Ollama — local, offline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Grammar-constrained JSON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Deterministic decoding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500884" y="1188720"/>
            <a:ext cx="2025395" cy="16459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2610612" y="1298448"/>
            <a:ext cx="1805939" cy="256032"/>
          </a:xfrm>
          <a:prstGeom prst="roundRect">
            <a:avLst>
              <a:gd name="adj" fmla="val 25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VERIFICATION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610612" y="1645920"/>
            <a:ext cx="18059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pint — unit algebra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Controlled vocabularies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Robust statistics (median/MAD)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Conformal risk control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617720" y="1188720"/>
            <a:ext cx="2025395" cy="16459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4727448" y="1298448"/>
            <a:ext cx="1805939" cy="256032"/>
          </a:xfrm>
          <a:prstGeom prst="roundRect">
            <a:avLst>
              <a:gd name="adj" fmla="val 25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727448" y="1645920"/>
            <a:ext cx="18059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Python 3.11 · uv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FastAPI + uvicorn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pydantic — typed records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scikit-learn — signal fusion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734556" y="1188720"/>
            <a:ext cx="2025395" cy="16459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6844284" y="1298448"/>
            <a:ext cx="1805939" cy="256032"/>
          </a:xfrm>
          <a:prstGeom prst="roundRect">
            <a:avLst>
              <a:gd name="adj" fmla="val 25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844284" y="1645920"/>
            <a:ext cx="18059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pytest — 759 tests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ruff — format + lint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Deterministic seeds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Preflight GPU placement check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4048" y="2980944"/>
            <a:ext cx="8375904" cy="786384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12700">
            <a:solidFill>
              <a:srgbClr val="20A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548640" y="310896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WHY LOCAL, AND NOT AN API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48640" y="3383279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Unreleased pricing and specifications are exactly the data a distributor cannot send to a hosted model. Local inference is the requirement, not a convenience — and it removes per-record cost at catalog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TextBox 160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Implementation cost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4048" y="1078992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570"/>
                </a:solidFill>
                <a:latin typeface="Calibri"/>
              </a:rPr>
              <a:t>The economics are the reason local-first is a design decision, not a limitation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84048" y="1463040"/>
            <a:ext cx="8375904" cy="11887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401568" y="159105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A6570"/>
                </a:solidFill>
                <a:latin typeface="Calibri"/>
              </a:rPr>
              <a:t>Hosted frontier API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144768" y="1591056"/>
            <a:ext cx="2706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878"/>
                </a:solidFill>
                <a:latin typeface="Calibri"/>
              </a:rPr>
              <a:t>Crucible (local)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30352" y="190195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Per 1,000 products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401568" y="1901952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0"/>
                </a:solidFill>
                <a:latin typeface="Calibri"/>
              </a:rPr>
              <a:t>metered per token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44768" y="1901952"/>
            <a:ext cx="2706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F4B"/>
                </a:solidFill>
                <a:latin typeface="Calibri"/>
              </a:rPr>
              <a:t>₹0 — one-time hardware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30352" y="21579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A 500,000-SKU catalog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01568" y="215798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0"/>
                </a:solidFill>
                <a:latin typeface="Calibri"/>
              </a:rPr>
              <a:t>recurring, scales linearly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144768" y="2157984"/>
            <a:ext cx="2706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F4B"/>
                </a:solidFill>
                <a:latin typeface="Calibri"/>
              </a:rPr>
              <a:t>₹0 — same laptop, more hours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30352" y="241401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Data leaves the building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401568" y="2414016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0"/>
                </a:solidFill>
                <a:latin typeface="Calibri"/>
              </a:rPr>
              <a:t>yes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144768" y="2414016"/>
            <a:ext cx="2706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F4B"/>
                </a:solidFill>
                <a:latin typeface="Calibri"/>
              </a:rPr>
              <a:t>no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4048" y="2816352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7F4B"/>
                </a:solidFill>
                <a:latin typeface="Calibri"/>
              </a:rPr>
              <a:t>₹0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84048" y="3200400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marginal cost per product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478024" y="2816352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878"/>
                </a:solidFill>
                <a:latin typeface="Calibri"/>
              </a:rPr>
              <a:t>~19 min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478024" y="3200400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per 1,000 products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572000" y="2816352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3878"/>
                </a:solidFill>
                <a:latin typeface="Calibri"/>
              </a:rPr>
              <a:t>8 GB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72000" y="3200400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VRAM — a laptop, not a cluster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665976" y="2816352"/>
            <a:ext cx="19110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A6570"/>
                </a:solidFill>
                <a:latin typeface="Calibri"/>
              </a:rPr>
              <a:t>$30–50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665976" y="3200400"/>
            <a:ext cx="191109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570"/>
                </a:solidFill>
                <a:latin typeface="Calibri"/>
              </a:rPr>
              <a:t>/mo only if hosting is wanted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84048" y="3730752"/>
            <a:ext cx="8375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878"/>
                </a:solidFill>
                <a:latin typeface="Calibri"/>
              </a:rPr>
              <a:t>Honest note. 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No free hosting tier provides a GPU, so a live public instance would cost $30–50/month. What is published free instead is the evidence: the real output rows, the verifier verdicts and the downloadable delivery 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TextBox 166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What the MVP produces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84048" y="1078992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570"/>
                </a:solidFill>
                <a:latin typeface="Calibri"/>
              </a:rPr>
              <a:t>Measured on the supplied 1,000-product dataset — every figure reproducible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84048" y="1463040"/>
            <a:ext cx="3936674" cy="2011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530352" y="1581912"/>
            <a:ext cx="364406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  <a:latin typeface="Calibri"/>
              </a:rPr>
              <a:t>COVERAGE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30352" y="1901952"/>
            <a:ext cx="270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Identity, taxonomy, attributes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269162" y="190195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878"/>
                </a:solidFill>
                <a:latin typeface="Calibri"/>
              </a:rPr>
              <a:t>25 / 252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30352" y="2212848"/>
            <a:ext cx="270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+ description composers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269162" y="221284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878"/>
                </a:solidFill>
                <a:latin typeface="Calibri"/>
              </a:rPr>
              <a:t>41 / 252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30352" y="2523744"/>
            <a:ext cx="270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+ commerce columns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269162" y="252374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878"/>
                </a:solidFill>
                <a:latin typeface="Calibri"/>
              </a:rPr>
              <a:t>61 / 252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30352" y="2834639"/>
            <a:ext cx="270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All five descriptions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269162" y="2834639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878"/>
                </a:solidFill>
                <a:latin typeface="Calibri"/>
              </a:rPr>
              <a:t>120 / 120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30352" y="3182111"/>
            <a:ext cx="364406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A6570"/>
                </a:solidFill>
                <a:latin typeface="Calibri"/>
              </a:rPr>
              <a:t>The remaining 191 need images, GTINs or distributor-internal ids that six input columns cannot supply.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503602" y="1463040"/>
            <a:ext cx="4256349" cy="20116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4649906" y="1581912"/>
            <a:ext cx="396374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  <a:latin typeface="Calibri"/>
              </a:rPr>
              <a:t>QUALITY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649906" y="1901952"/>
            <a:ext cx="3204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INVOICE_DESC ≤ 40 chars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891272" y="190195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7F4B"/>
                </a:solidFill>
                <a:latin typeface="Calibri"/>
              </a:rPr>
              <a:t>100%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649906" y="2212848"/>
            <a:ext cx="3204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Upper case where required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891272" y="221284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7F4B"/>
                </a:solidFill>
                <a:latin typeface="Calibri"/>
              </a:rPr>
              <a:t>100%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49906" y="2523744"/>
            <a:ext cx="3204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Units spaced (24 in, never 24in)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891272" y="252374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7F4B"/>
                </a:solidFill>
                <a:latin typeface="Calibri"/>
              </a:rPr>
              <a:t>100%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649906" y="2834639"/>
            <a:ext cx="32047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MOBILE_DESC 60–80 chars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891272" y="2834639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6A00"/>
                </a:solidFill>
                <a:latin typeface="Calibri"/>
              </a:rPr>
              <a:t>77%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649906" y="3182111"/>
            <a:ext cx="396374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A6570"/>
                </a:solidFill>
                <a:latin typeface="Calibri"/>
              </a:rPr>
              <a:t>The 77% is the composer refusing to pad. Inventing words to hit a character count is what the guide says scores zero.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84048" y="3639312"/>
            <a:ext cx="8375904" cy="786384"/>
          </a:xfrm>
          <a:prstGeom prst="roundRect">
            <a:avLst>
              <a:gd name="adj" fmla="val 4000"/>
            </a:avLst>
          </a:prstGeom>
          <a:solidFill>
            <a:srgbClr val="00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548640" y="3758184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A2FE"/>
                </a:solidFill>
                <a:latin typeface="Calibri"/>
              </a:rPr>
              <a:t>Verification works: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realised error on published values falls 12.3% → 3.2%, a 4× improvement. Certification refuses below α = 15% rather than issuing a bound this sample size cannot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TextBox 172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What we measured that did not work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84048" y="1078992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A6570"/>
                </a:solidFill>
                <a:latin typeface="Calibri"/>
              </a:rPr>
              <a:t>Negative results, kept because they are load-bearing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84048" y="1463040"/>
            <a:ext cx="8375904" cy="69494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530352" y="1554480"/>
            <a:ext cx="2697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Icecat: 0 / 999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28416" y="1545336"/>
            <a:ext cx="5248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Scanned all 28,547 index entries against 999 part numbers. Zero real matches — it is consumer-electronics-weighted and does not cover US building materials. It was priority 1 in our own handoff.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84048" y="2231136"/>
            <a:ext cx="8375904" cy="69494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530352" y="2322576"/>
            <a:ext cx="2697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Coverage, not quality, was the constraint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328416" y="2313432"/>
            <a:ext cx="5248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First real-catalog run scored AUROC 0.532 — a coin flip. 62% of values got no verifier opinion at all. Adding the vocabulary verifier took coverage 38% → 88%.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84048" y="2999232"/>
            <a:ext cx="8375904" cy="69494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530352" y="3090672"/>
            <a:ext cx="2697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A wrong vocabulary rejects everything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328416" y="3081527"/>
            <a:ext cx="52486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A37"/>
                </a:solidFill>
                <a:latin typeface="Calibri"/>
              </a:rPr>
              <a:t>wheel_type held ISO codes and matched 0 of 38 real values, because this catalog writes "Cut Off". The verifier worked perfectly against a wrong list — invisible without a compliance metric.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84048" y="3822191"/>
            <a:ext cx="8375904" cy="1078992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12700">
            <a:solidFill>
              <a:srgbClr val="20A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548640" y="3941063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NEXT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8640" y="420624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—  </a:t>
            </a:r>
            <a:r>
              <a:rPr sz="950" b="1" i="0">
                <a:solidFill>
                  <a:srgbClr val="1F2A37"/>
                </a:solidFill>
                <a:latin typeface="Calibri"/>
              </a:rPr>
              <a:t>The 27,000-row manufacturer/brand authority 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unlocks the brand-mismatch check — one file away, and we can name the file.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—  </a:t>
            </a:r>
            <a:r>
              <a:rPr sz="950" b="1" i="0">
                <a:solidFill>
                  <a:srgbClr val="1F2A37"/>
                </a:solidFill>
                <a:latin typeface="Calibri"/>
              </a:rPr>
              <a:t>The 200-row answer key 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replaces injected-fault labels and tightens the certified bound.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0A2FE"/>
                </a:solidFill>
                <a:latin typeface="Calibri"/>
              </a:rPr>
              <a:t>—  </a:t>
            </a:r>
            <a:r>
              <a:rPr sz="950" b="1" i="0">
                <a:solidFill>
                  <a:srgbClr val="1F2A37"/>
                </a:solidFill>
                <a:latin typeface="Calibri"/>
              </a:rPr>
              <a:t>A larger GPU 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turns the implemented concurrency into real parallelism.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TextBox 178"/>
          <p:cNvSpPr txBox="1"/>
          <p:nvPr/>
        </p:nvSpPr>
        <p:spPr>
          <a:xfrm>
            <a:off x="384048" y="676656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878"/>
                </a:solidFill>
                <a:latin typeface="Calibri"/>
              </a:rPr>
              <a:t>Links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84048" y="1335024"/>
            <a:ext cx="8375904" cy="73152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548640" y="1453895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570"/>
                </a:solidFill>
                <a:latin typeface="Calibri"/>
              </a:rPr>
              <a:t>GitHub repository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8640" y="17007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20A2FE"/>
                </a:solidFill>
                <a:latin typeface="Calibri"/>
              </a:rPr>
              <a:t>github.com/Vishalk1604/CRUCIBLE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84048" y="2176272"/>
            <a:ext cx="8375904" cy="7315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548640" y="2295144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570"/>
                </a:solidFill>
                <a:latin typeface="Calibri"/>
              </a:rPr>
              <a:t>Demo video (3 minutes)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8640" y="2542032"/>
            <a:ext cx="8046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00" b="1" dirty="0">
                <a:solidFill>
                  <a:srgbClr val="20A2FE"/>
                </a:solidFill>
                <a:latin typeface="Calibri"/>
              </a:rPr>
              <a:t>https://drive.google.com/drive/folders/1uBIsqU3d-xMb38Khr7qaFPDvXcqFD7xz?usp=sharing</a:t>
            </a:r>
            <a:endParaRPr sz="1100" b="1" i="0" dirty="0">
              <a:solidFill>
                <a:srgbClr val="20A2FE"/>
              </a:solidFill>
              <a:latin typeface="Calibri"/>
            </a:endParaRPr>
          </a:p>
        </p:txBody>
      </p:sp>
      <p:sp>
        <p:nvSpPr>
          <p:cNvPr id="186" name="Rounded Rectangle 185"/>
          <p:cNvSpPr/>
          <p:nvPr/>
        </p:nvSpPr>
        <p:spPr>
          <a:xfrm>
            <a:off x="384048" y="3017520"/>
            <a:ext cx="8375904" cy="7315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548640" y="3136391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570"/>
                </a:solidFill>
                <a:latin typeface="Calibri"/>
              </a:rPr>
              <a:t>Working prototype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48640" y="3383279"/>
            <a:ext cx="8046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00" b="1" dirty="0">
                <a:solidFill>
                  <a:srgbClr val="20A2FE"/>
                </a:solidFill>
                <a:latin typeface="Calibri"/>
              </a:rPr>
              <a:t>https://vishalk1604.github.io/CRUCIBLE/</a:t>
            </a:r>
            <a:endParaRPr sz="1100" b="1" i="0" dirty="0">
              <a:solidFill>
                <a:srgbClr val="20A2FE"/>
              </a:solidFill>
              <a:latin typeface="Calibri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384048" y="3986783"/>
            <a:ext cx="8375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878"/>
                </a:solidFill>
                <a:latin typeface="Calibri"/>
              </a:rPr>
              <a:t>Reproduce every figure in this deck: </a:t>
            </a:r>
            <a:r>
              <a:rPr sz="1000" b="0" i="0">
                <a:solidFill>
                  <a:srgbClr val="1F2A37"/>
                </a:solidFill>
                <a:latin typeface="Calibri"/>
              </a:rPr>
              <a:t>uv sync  ·  ollama pull qwen3-vl:8b  ·  uv run pytest -q  ·  uv run crucible enrich  ·  uv run crucible evaluate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1618</Words>
  <Application>Microsoft Office PowerPoint</Application>
  <PresentationFormat>On-screen Show (16:9)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EUGENE .</cp:lastModifiedBy>
  <cp:revision>3</cp:revision>
  <dcterms:modified xsi:type="dcterms:W3CDTF">2026-08-23T18:05:08Z</dcterms:modified>
</cp:coreProperties>
</file>